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3" d="100"/>
          <a:sy n="93" d="100"/>
        </p:scale>
        <p:origin x="274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07-Aug-26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07-Aug-26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07-Aug-26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07-Aug-26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07-Aug-26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07-Aug-26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07-Aug-26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07-Aug-26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07-Aug-26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07-Aug-26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07-Aug-26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07-Aug-26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11" Type="http://schemas.openxmlformats.org/officeDocument/2006/relationships/image" Target="../media/image28.png"/><Relationship Id="rId5" Type="http://schemas.openxmlformats.org/officeDocument/2006/relationships/image" Target="../media/image19.png"/><Relationship Id="rId10" Type="http://schemas.openxmlformats.org/officeDocument/2006/relationships/image" Target="../media/image27.png"/><Relationship Id="rId4" Type="http://schemas.openxmlformats.org/officeDocument/2006/relationships/image" Target="../media/image18.png"/><Relationship Id="rId9" Type="http://schemas.openxmlformats.org/officeDocument/2006/relationships/image" Target="../media/image2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10" Type="http://schemas.openxmlformats.org/officeDocument/2006/relationships/image" Target="../media/image42.png"/><Relationship Id="rId4" Type="http://schemas.openxmlformats.org/officeDocument/2006/relationships/image" Target="../media/image36.png"/><Relationship Id="rId9" Type="http://schemas.openxmlformats.org/officeDocument/2006/relationships/image" Target="../media/image4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4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7212" y="1160264"/>
            <a:ext cx="2314575" cy="2667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85975" y="4002285"/>
            <a:ext cx="6877050" cy="7429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1049000" cy="5905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79131" y="1617464"/>
            <a:ext cx="5890736" cy="11180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500"/>
              </a:lnSpc>
            </a:pPr>
            <a:r>
              <a:rPr sz="3600" b="0" i="0" u="none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XÂY DỰNG WEBSITE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
</a:t>
            </a:r>
            <a:r>
              <a:rPr sz="3600" b="0" i="0" u="none" dirty="0">
                <a:solidFill>
                  <a:srgbClr val="38BDF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ĐẶT PHÒNG KHÁCH SẠN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76375" y="2950964"/>
            <a:ext cx="8096250" cy="6331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640"/>
              </a:lnSpc>
            </a:pPr>
            <a:r>
              <a:rPr b="0" i="0" u="none" dirty="0" err="1">
                <a:solidFill>
                  <a:srgbClr val="94A3B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b="0" i="0" u="none" dirty="0">
                <a:solidFill>
                  <a:srgbClr val="94A3B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i="0" u="none" dirty="0" err="1">
                <a:solidFill>
                  <a:srgbClr val="94A3B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b="0" i="0" u="none" dirty="0">
                <a:solidFill>
                  <a:srgbClr val="94A3B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i="0" u="none" dirty="0" err="1">
                <a:solidFill>
                  <a:srgbClr val="94A3B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nền</a:t>
            </a:r>
            <a:r>
              <a:rPr b="0" i="0" u="none" dirty="0">
                <a:solidFill>
                  <a:srgbClr val="94A3B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i="0" u="none" dirty="0" err="1">
                <a:solidFill>
                  <a:srgbClr val="94A3B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tảng</a:t>
            </a:r>
            <a:r>
              <a:rPr b="0" i="0" u="none" dirty="0">
                <a:solidFill>
                  <a:srgbClr val="94A3B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ASP.NET MVC 5 &amp; SQL Server </a:t>
            </a:r>
            <a:r>
              <a:rPr b="0" i="0" u="none" dirty="0" err="1">
                <a:solidFill>
                  <a:srgbClr val="94A3B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trong</a:t>
            </a:r>
            <a:r>
              <a:rPr b="0" i="0" u="none" dirty="0">
                <a:solidFill>
                  <a:srgbClr val="94A3B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i="0" u="none" dirty="0" err="1">
                <a:solidFill>
                  <a:srgbClr val="94A3B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tối</a:t>
            </a:r>
            <a:r>
              <a:rPr b="0" i="0" u="none" dirty="0">
                <a:solidFill>
                  <a:srgbClr val="94A3B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i="0" u="none" dirty="0" err="1">
                <a:solidFill>
                  <a:srgbClr val="94A3B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ưu</a:t>
            </a:r>
            <a:r>
              <a:rPr b="0" i="0" u="none" dirty="0">
                <a:solidFill>
                  <a:srgbClr val="94A3B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i="0" u="none" dirty="0" err="1">
                <a:solidFill>
                  <a:srgbClr val="94A3B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hóa</a:t>
            </a:r>
            <a:r>
              <a:rPr b="0" i="0" u="none" dirty="0">
                <a:solidFill>
                  <a:srgbClr val="94A3B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i="0" u="none" dirty="0" err="1">
                <a:solidFill>
                  <a:srgbClr val="94A3B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quy</a:t>
            </a:r>
            <a:r>
              <a:rPr b="0" i="0" u="none" dirty="0">
                <a:solidFill>
                  <a:srgbClr val="94A3B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i="0" u="none" dirty="0" err="1">
                <a:solidFill>
                  <a:srgbClr val="94A3B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trình</a:t>
            </a:r>
            <a:r>
              <a:rPr b="0" i="0" u="none" dirty="0">
                <a:solidFill>
                  <a:srgbClr val="94A3B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i="0" u="none" dirty="0" err="1">
                <a:solidFill>
                  <a:srgbClr val="94A3B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dịch</a:t>
            </a:r>
            <a:r>
              <a:rPr b="0" i="0" u="none" dirty="0">
                <a:solidFill>
                  <a:srgbClr val="94A3B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i="0" u="none" dirty="0" err="1">
                <a:solidFill>
                  <a:srgbClr val="94A3B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vụ</a:t>
            </a:r>
            <a:r>
              <a:rPr b="0" i="0" u="none" dirty="0">
                <a:solidFill>
                  <a:srgbClr val="94A3B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i="0" u="none" dirty="0" err="1">
                <a:solidFill>
                  <a:srgbClr val="94A3B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b="0" i="0" u="none" dirty="0">
                <a:solidFill>
                  <a:srgbClr val="94A3B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i="0" u="none" dirty="0" err="1">
                <a:solidFill>
                  <a:srgbClr val="94A3B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quản</a:t>
            </a:r>
            <a:r>
              <a:rPr b="0" i="0" u="none" dirty="0">
                <a:solidFill>
                  <a:srgbClr val="94A3B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i="0" u="none" dirty="0" err="1">
                <a:solidFill>
                  <a:srgbClr val="94A3B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b="0" i="0" u="none" dirty="0">
                <a:solidFill>
                  <a:srgbClr val="94A3B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i="0" u="none" dirty="0" err="1">
                <a:solidFill>
                  <a:srgbClr val="94A3B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lưu</a:t>
            </a:r>
            <a:r>
              <a:rPr b="0" i="0" u="none" dirty="0">
                <a:solidFill>
                  <a:srgbClr val="94A3B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i="0" u="none" dirty="0" err="1">
                <a:solidFill>
                  <a:srgbClr val="94A3B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trú</a:t>
            </a:r>
            <a:r>
              <a:rPr b="0" i="0" u="none" dirty="0">
                <a:solidFill>
                  <a:srgbClr val="94A3B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i="0" u="none" dirty="0" err="1">
                <a:solidFill>
                  <a:srgbClr val="94A3B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khách</a:t>
            </a:r>
            <a:r>
              <a:rPr b="0" i="0" u="none" dirty="0">
                <a:solidFill>
                  <a:srgbClr val="94A3B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i="0" u="none" dirty="0" err="1">
                <a:solidFill>
                  <a:srgbClr val="94A3B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sạn</a:t>
            </a:r>
            <a:endParaRPr b="0" i="0" u="none" dirty="0">
              <a:solidFill>
                <a:srgbClr val="94A3B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476500" y="4202310"/>
            <a:ext cx="172402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75" b="0" i="0" u="none" dirty="0">
                <a:solidFill>
                  <a:srgbClr val="38BDF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GIẢNG VIÊN HƯỚNG DẪN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76500" y="4354710"/>
            <a:ext cx="1724025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 dirty="0">
                <a:solidFill>
                  <a:srgbClr val="F8FAF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TS. </a:t>
            </a:r>
            <a:r>
              <a:rPr sz="1200" b="0" i="0" u="none" dirty="0" err="1">
                <a:solidFill>
                  <a:srgbClr val="F8FAF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Nguyễn</a:t>
            </a:r>
            <a:r>
              <a:rPr sz="1200" b="0" i="0" u="none" dirty="0">
                <a:solidFill>
                  <a:srgbClr val="F8FAF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200" b="0" i="0" u="none" dirty="0" err="1">
                <a:solidFill>
                  <a:srgbClr val="F8FAF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Nh</a:t>
            </a:r>
            <a:r>
              <a:rPr lang="en-US" sz="1200" dirty="0" err="1">
                <a:solidFill>
                  <a:srgbClr val="F8FAF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ứt</a:t>
            </a:r>
            <a:r>
              <a:rPr lang="en-US" sz="1200" dirty="0">
                <a:solidFill>
                  <a:srgbClr val="F8FAF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Lam</a:t>
            </a:r>
            <a:endParaRPr sz="1200" b="0" i="0" u="none" dirty="0">
              <a:solidFill>
                <a:srgbClr val="F8FAF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581525" y="4202310"/>
            <a:ext cx="256222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38BDF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SINH VIÊN THỰC HIỆN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81525" y="4354710"/>
            <a:ext cx="2562225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 dirty="0" err="1">
                <a:solidFill>
                  <a:srgbClr val="F8FAF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Lê</a:t>
            </a:r>
            <a:r>
              <a:rPr sz="1200" b="0" i="0" u="none" dirty="0">
                <a:solidFill>
                  <a:srgbClr val="F8FAF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200" b="0" i="0" u="none" dirty="0" err="1">
                <a:solidFill>
                  <a:srgbClr val="F8FAF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Quang</a:t>
            </a:r>
            <a:r>
              <a:rPr sz="1200" b="0" i="0" u="none" dirty="0">
                <a:solidFill>
                  <a:srgbClr val="F8FAF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200" b="0" i="0" u="none" dirty="0" err="1">
                <a:solidFill>
                  <a:srgbClr val="F8FAF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Đẳng</a:t>
            </a:r>
            <a:r>
              <a:rPr sz="1200" b="0" i="0" u="none" dirty="0">
                <a:solidFill>
                  <a:srgbClr val="F8FAF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 MSSV: 170125073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24750" y="4202310"/>
            <a:ext cx="10477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38BDF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LỚP HỌC PHẦN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24750" y="4354710"/>
            <a:ext cx="104775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F8FAF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DK25TTC2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9485"/>
    </mc:Choice>
    <mc:Fallback xmlns="">
      <p:transition spd="slow" advTm="9485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3950" y="1871662"/>
            <a:ext cx="1181100" cy="3143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1049000" cy="59055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428875" y="2376487"/>
            <a:ext cx="619125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000" b="0" i="0" u="none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TỔNG QUAN ĐỀ TÀI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28875" y="3148012"/>
            <a:ext cx="6191250" cy="5836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sz="1600" b="0" i="0" u="none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Bối cảnh thực tiễn, tính cấp thiết và định hướng xây dựng giải pháp công nghệ số cho khách sạn</a:t>
            </a:r>
          </a:p>
        </p:txBody>
      </p:sp>
      <p:sp>
        <p:nvSpPr>
          <p:cNvPr id="7" name="Rectangle 6"/>
          <p:cNvSpPr/>
          <p:nvPr/>
        </p:nvSpPr>
        <p:spPr>
          <a:xfrm>
            <a:off x="5143500" y="3995737"/>
            <a:ext cx="762000" cy="3810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918"/>
    </mc:Choice>
    <mc:Fallback xmlns="">
      <p:transition spd="slow" advTm="8918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0" y="1966912"/>
            <a:ext cx="5334000" cy="3619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57250" y="2819400"/>
            <a:ext cx="5048250" cy="4647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400" b="1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Xu </a:t>
            </a:r>
            <a:r>
              <a:rPr sz="1400" b="1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hướng</a:t>
            </a:r>
            <a:r>
              <a:rPr sz="1400" b="1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1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chuyển</a:t>
            </a:r>
            <a:r>
              <a:rPr sz="1400" b="1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1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đổi</a:t>
            </a:r>
            <a:r>
              <a:rPr sz="1400" b="1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1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số</a:t>
            </a:r>
            <a:r>
              <a:rPr sz="1400" b="1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Ngành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du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lịch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khách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sạn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tăng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mạnh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mẽ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việc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nghệ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tin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vào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quản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dịch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vụ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3457575"/>
            <a:ext cx="5048250" cy="4647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400" b="1" i="0" u="none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Nhu cầu khách hàng:</a:t>
            </a:r>
            <a:r>
              <a:rPr sz="1400" b="0" i="0" u="none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Khách lưu trú mong muốn tra cứu hình ảnh, loại phòng, xem giá công khai và đặt phòng từ xa tiện lợi.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095750"/>
            <a:ext cx="5048250" cy="4647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400" b="1" i="0" u="none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Tối ưu nghiệp vụ:</a:t>
            </a:r>
            <a:r>
              <a:rPr sz="1400" b="0" i="0" u="none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Tự động hóa công tác tiếp nhận đặt phòng, check-in, check-out và quản lý hóa đơn cho khách sạn.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6025" y="1976437"/>
            <a:ext cx="5314950" cy="360045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2833687"/>
            <a:ext cx="209550" cy="219075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3471862"/>
            <a:ext cx="266700" cy="219075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500" y="4110037"/>
            <a:ext cx="266700" cy="21907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71500" y="434816"/>
            <a:ext cx="11601450" cy="49244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1" i="0" u="none" dirty="0" err="1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sz="3200" b="1" i="0" u="none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do </a:t>
            </a:r>
            <a:r>
              <a:rPr sz="3200" b="1" i="0" u="none" dirty="0" err="1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chọn</a:t>
            </a:r>
            <a:r>
              <a:rPr sz="3200" b="1" i="0" u="none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b="1" i="0" u="none" dirty="0" err="1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đề</a:t>
            </a:r>
            <a:r>
              <a:rPr sz="3200" b="1" i="0" u="none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b="1" i="0" u="none" dirty="0" err="1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tài</a:t>
            </a:r>
            <a:endParaRPr sz="3200" b="1" i="0" u="none" dirty="0">
              <a:solidFill>
                <a:srgbClr val="0F172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571500" y="885825"/>
            <a:ext cx="57150" cy="304800"/>
          </a:xfrm>
          <a:prstGeom prst="roundRect">
            <a:avLst>
              <a:gd name="adj" fmla="val 5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2956"/>
    </mc:Choice>
    <mc:Fallback xmlns="">
      <p:transition spd="slow" advTm="22956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278856"/>
            <a:ext cx="5334000" cy="2995612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2278856"/>
            <a:ext cx="5334000" cy="29956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19200" y="2616607"/>
            <a:ext cx="456057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1" i="0" u="none">
                <a:solidFill>
                  <a:srgbClr val="0369A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Mục đích nghiên cứu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31331"/>
            <a:ext cx="4648200" cy="4685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400" b="0" i="0" u="none" dirty="0" err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Nghiên</a:t>
            </a:r>
            <a:r>
              <a:rPr sz="1400" b="0" i="0" u="none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cứu</a:t>
            </a:r>
            <a:r>
              <a:rPr sz="1400" b="0" i="0" u="none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sz="1400" b="0" i="0" u="none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sz="1400" b="0" i="0" u="none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sz="1400" b="0" i="0" u="none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sz="1400" b="0" i="0" u="none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nghệ</a:t>
            </a:r>
            <a:r>
              <a:rPr sz="1400" b="0" i="0" u="none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r>
              <a:rPr sz="1400" b="0" i="0" u="none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đại</a:t>
            </a:r>
            <a:r>
              <a:rPr sz="1400" b="0" i="0" u="none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thuộc</a:t>
            </a:r>
            <a:r>
              <a:rPr sz="1400" b="0" i="0" u="none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nền</a:t>
            </a:r>
            <a:r>
              <a:rPr sz="1400" b="0" i="0" u="none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tảng</a:t>
            </a:r>
            <a:r>
              <a:rPr sz="1400" b="0" i="0" u="none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.NET Framework </a:t>
            </a:r>
            <a:r>
              <a:rPr sz="1400" b="0" i="0" u="none" dirty="0" err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để</a:t>
            </a:r>
            <a:r>
              <a:rPr sz="1400" b="0" i="0" u="none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xây</a:t>
            </a:r>
            <a:r>
              <a:rPr sz="1400" b="0" i="0" u="none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dựng</a:t>
            </a:r>
            <a:r>
              <a:rPr sz="1400" b="0" i="0" u="none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sz="1400" b="0" i="0" u="none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sz="1400" b="0" i="0" u="none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website </a:t>
            </a:r>
            <a:r>
              <a:rPr sz="1400" b="0" i="0" u="none" dirty="0" err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hoàn</a:t>
            </a:r>
            <a:r>
              <a:rPr sz="1400" b="0" i="0" u="none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chỉnh</a:t>
            </a:r>
            <a:r>
              <a:rPr sz="1400" b="0" i="0" u="none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05625" y="2616607"/>
            <a:ext cx="4590573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1" i="0" u="none">
                <a:solidFill>
                  <a:srgbClr val="0369A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Mục tiêu sản phẩm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29400" y="3031331"/>
            <a:ext cx="4648200" cy="4873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400" b="0" i="0" u="none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Tạo ra hệ thống phần mềm đáp ứng tốt cả trải nghiệm người dùng và nhu cầu quản trị chuyên nghiệp.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2650331"/>
            <a:ext cx="209550" cy="2095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43000" y="3902868"/>
            <a:ext cx="441960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400" b="0" i="0" u="none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Nắm vững kiến thức phát triển web với ASP.NET MVC 5.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245768"/>
            <a:ext cx="4419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400" b="0" i="0" u="none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Sử dụng LINQ &amp; Entity Framework tương tác CSDL.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4588668"/>
            <a:ext cx="441960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400" b="0" i="0" u="none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Khảo sát &amp; chuẩn hóa quy trình nghiệp vụ khách sạn thực tế.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400" y="2650331"/>
            <a:ext cx="180975" cy="20955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858000" y="3659981"/>
            <a:ext cx="4419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400" b="0" i="0" u="none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Giao diện Khách hàng: Trực quan, tinh tế, mượt mà.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4002881"/>
            <a:ext cx="4419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400" b="0" i="0" u="none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Giao diện Quản trị: Hiện đại, tối giản, phân quyền rõ ràng.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4345781"/>
            <a:ext cx="4419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400" b="0" i="0" u="none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Tăng khả năng tiếp cận khách hàng và tối ưu doanh thu.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902868"/>
            <a:ext cx="152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0284C7"/>
                </a:solidFill>
                <a:latin typeface="Inter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245768"/>
            <a:ext cx="152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0284C7"/>
                </a:solidFill>
                <a:latin typeface="Inter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588668"/>
            <a:ext cx="152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0284C7"/>
                </a:solidFill>
                <a:latin typeface="Inter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3659981"/>
            <a:ext cx="152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0284C7"/>
                </a:solidFill>
                <a:latin typeface="Inter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4002881"/>
            <a:ext cx="152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0284C7"/>
                </a:solidFill>
                <a:latin typeface="Inter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4345781"/>
            <a:ext cx="152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0284C7"/>
                </a:solidFill>
                <a:latin typeface="Inter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00" y="434817"/>
            <a:ext cx="11601450" cy="49244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1" i="0" u="none" dirty="0" err="1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Mục</a:t>
            </a:r>
            <a:r>
              <a:rPr sz="3200" b="1" i="0" u="none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b="1" i="0" u="none" dirty="0" err="1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đích</a:t>
            </a:r>
            <a:r>
              <a:rPr sz="3200" b="1" i="0" u="none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b="1" i="0" u="none" dirty="0" err="1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sz="3200" b="1" i="0" u="none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b="1" i="0" u="none" dirty="0" err="1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Mục</a:t>
            </a:r>
            <a:r>
              <a:rPr sz="3200" b="1" i="0" u="none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b="1" i="0" u="none" dirty="0" err="1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tiêu</a:t>
            </a:r>
            <a:r>
              <a:rPr sz="3200" b="1" i="0" u="none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b="1" i="0" u="none" dirty="0" err="1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nghiên</a:t>
            </a:r>
            <a:r>
              <a:rPr sz="3200" b="1" i="0" u="none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b="1" i="0" u="none" dirty="0" err="1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cứu</a:t>
            </a:r>
            <a:endParaRPr sz="3200" b="1" i="0" u="none" dirty="0">
              <a:solidFill>
                <a:srgbClr val="0F172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571500" y="885825"/>
            <a:ext cx="57150" cy="304800"/>
          </a:xfrm>
          <a:prstGeom prst="roundRect">
            <a:avLst>
              <a:gd name="adj" fmla="val 5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7724"/>
    </mc:Choice>
    <mc:Fallback xmlns="">
      <p:transition spd="slow" advTm="37724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662" y="1871662"/>
            <a:ext cx="1209675" cy="3143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1049000" cy="59055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428875" y="2376487"/>
            <a:ext cx="6191250" cy="677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400" b="0" i="0" u="none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CƠ SỞ LÝ THUYẾT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28875" y="3148012"/>
            <a:ext cx="6191250" cy="5927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b="0" i="0" u="none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Tổng quan công nghệ Backend, Frontend và Hệ quản trị cơ sở dữ liệu được lựa chọn</a:t>
            </a:r>
          </a:p>
        </p:txBody>
      </p:sp>
      <p:sp>
        <p:nvSpPr>
          <p:cNvPr id="7" name="Rectangle 6"/>
          <p:cNvSpPr/>
          <p:nvPr/>
        </p:nvSpPr>
        <p:spPr>
          <a:xfrm>
            <a:off x="5143500" y="3995737"/>
            <a:ext cx="762000" cy="3810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533"/>
    </mc:Choice>
    <mc:Fallback xmlns="">
      <p:transition spd="slow" advTm="7533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514600"/>
            <a:ext cx="3524250" cy="25241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3875" y="2514600"/>
            <a:ext cx="3524250" cy="25241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6250" y="2514600"/>
            <a:ext cx="3524250" cy="252412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150" y="2809875"/>
            <a:ext cx="533400" cy="53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9149" y="3533775"/>
            <a:ext cx="2688431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 u="none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ASP.NET MVC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150" y="3886200"/>
            <a:ext cx="3028950" cy="8720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400"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Kiến</a:t>
            </a:r>
            <a:r>
              <a:rPr sz="1400"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trúc</a:t>
            </a:r>
            <a:r>
              <a:rPr sz="1400"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tách</a:t>
            </a:r>
            <a:r>
              <a:rPr sz="1400"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biệt</a:t>
            </a:r>
            <a:r>
              <a:rPr sz="1400"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Model-View-Controller </a:t>
            </a:r>
            <a:r>
              <a:rPr sz="1400"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giúp</a:t>
            </a:r>
            <a:r>
              <a:rPr sz="1400"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mã</a:t>
            </a:r>
            <a:r>
              <a:rPr sz="1400"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nguồn</a:t>
            </a:r>
            <a:r>
              <a:rPr sz="1400"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rõ</a:t>
            </a:r>
            <a:r>
              <a:rPr sz="1400"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ràng</a:t>
            </a:r>
            <a:r>
              <a:rPr sz="1400"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1400"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dễ</a:t>
            </a:r>
            <a:r>
              <a:rPr sz="1400"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phát</a:t>
            </a:r>
            <a:r>
              <a:rPr sz="1400"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triển</a:t>
            </a:r>
            <a:r>
              <a:rPr sz="1400"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1400"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hỗ</a:t>
            </a:r>
            <a:r>
              <a:rPr sz="1400"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trợ</a:t>
            </a:r>
            <a:r>
              <a:rPr sz="1400"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Routing, Authentication Filter </a:t>
            </a:r>
            <a:r>
              <a:rPr sz="1400"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sz="1400"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tích</a:t>
            </a:r>
            <a:r>
              <a:rPr sz="1400"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hợp</a:t>
            </a:r>
            <a:r>
              <a:rPr sz="1400"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sẵn</a:t>
            </a:r>
            <a:r>
              <a:rPr sz="1400"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Bootstrap.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81525" y="2809875"/>
            <a:ext cx="533400" cy="53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81524" y="3533775"/>
            <a:ext cx="3267075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 u="none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Entity Framework &amp; LINQ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81525" y="3886200"/>
            <a:ext cx="3028950" cy="8720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400" b="0" i="0" u="none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Mô hình ORM giúp ánh xạ các bảng CSDL thành các đối tượng C#, viết truy vấn dữ liệu nhanh chóng, an toàn và hạn chế rủi ro SQL Injection.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43900" y="2809875"/>
            <a:ext cx="533400" cy="533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43900" y="3533775"/>
            <a:ext cx="2842656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 u="none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Microsoft SQL Server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43900" y="3886200"/>
            <a:ext cx="3028950" cy="8720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400" b="0" i="0" u="none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quản trị CSDL quan hệ mạnh mẽ, lưu trữ và xử lý dữ liệu tin cậy, đảm bảo tính toàn vẹn và tối ưu hiệu năng truy vấn thông tin.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2975" y="2962275"/>
            <a:ext cx="285750" cy="22860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48212" y="2962275"/>
            <a:ext cx="200025" cy="22860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96300" y="2962275"/>
            <a:ext cx="228600" cy="2286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1500" y="434816"/>
            <a:ext cx="11601450" cy="49244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1" i="0" u="none" dirty="0" err="1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sz="3200" b="1" i="0" u="none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b="1" i="0" u="none" dirty="0" err="1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nghệ</a:t>
            </a:r>
            <a:r>
              <a:rPr sz="3200" b="1" i="0" u="none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Backend &amp; CSDL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885825"/>
            <a:ext cx="57150" cy="304800"/>
          </a:xfrm>
          <a:prstGeom prst="roundRect">
            <a:avLst>
              <a:gd name="adj" fmla="val 5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2572"/>
    </mc:Choice>
    <mc:Fallback xmlns="">
      <p:transition spd="slow" advTm="42572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514600"/>
            <a:ext cx="3524250" cy="25241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3875" y="2514600"/>
            <a:ext cx="3524250" cy="25241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6250" y="2514600"/>
            <a:ext cx="3524250" cy="252412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150" y="2809875"/>
            <a:ext cx="533400" cy="53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9150" y="3533775"/>
            <a:ext cx="2268434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 u="none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HTML5 &amp; CSS3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150" y="3886200"/>
            <a:ext cx="3028950" cy="8596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400"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Xây</a:t>
            </a:r>
            <a:r>
              <a:rPr sz="1400"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dựng</a:t>
            </a:r>
            <a:r>
              <a:rPr sz="1400"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cấu</a:t>
            </a:r>
            <a:r>
              <a:rPr sz="1400"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trúc</a:t>
            </a:r>
            <a:r>
              <a:rPr sz="1400"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chuẩn</a:t>
            </a:r>
            <a:r>
              <a:rPr sz="1400"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SEO, </a:t>
            </a:r>
            <a:r>
              <a:rPr sz="1400"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định</a:t>
            </a:r>
            <a:r>
              <a:rPr sz="1400"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sz="1400"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phong</a:t>
            </a:r>
            <a:r>
              <a:rPr sz="1400"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cách</a:t>
            </a:r>
            <a:r>
              <a:rPr sz="1400"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sang </a:t>
            </a:r>
            <a:r>
              <a:rPr sz="1400"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trọng</a:t>
            </a:r>
            <a:r>
              <a:rPr sz="1400"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1400"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đáp</a:t>
            </a:r>
            <a:r>
              <a:rPr sz="1400"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sz="1400"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sz="1400"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tiêu</a:t>
            </a:r>
            <a:r>
              <a:rPr sz="1400"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chuẩn</a:t>
            </a:r>
            <a:r>
              <a:rPr sz="1400"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hiển</a:t>
            </a:r>
            <a:r>
              <a:rPr sz="1400"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thị</a:t>
            </a:r>
            <a:r>
              <a:rPr sz="1400"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r>
              <a:rPr sz="1400"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đại</a:t>
            </a:r>
            <a:r>
              <a:rPr sz="1400"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trên</a:t>
            </a:r>
            <a:r>
              <a:rPr sz="1400"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môi</a:t>
            </a:r>
            <a:r>
              <a:rPr sz="1400"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trường</a:t>
            </a:r>
            <a:r>
              <a:rPr sz="1400"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Web.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81525" y="2809875"/>
            <a:ext cx="533400" cy="53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81525" y="3533775"/>
            <a:ext cx="235839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 u="none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JavaScript &amp; jQuery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81525" y="3886200"/>
            <a:ext cx="3028950" cy="8720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400" b="0" i="0" u="none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Xử lý sự kiện linh hoạt tại phía Client, giảm tải request gửi lên Server, mang lại hiệu ứng tương tác tức thì và mượt mà cho người dùng.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43900" y="2809875"/>
            <a:ext cx="533400" cy="533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43900" y="3533775"/>
            <a:ext cx="2712027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 u="none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Bootstrap Framework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43900" y="3886200"/>
            <a:ext cx="3028950" cy="8720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400" b="0" i="0" u="none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Grid Responsive ưu tiên thiết bị di động, cung cấp thư viện giao diện phong phú, rút ngắn thời gian thiết kế UX/UI.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00125" y="2962275"/>
            <a:ext cx="171450" cy="22860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48212" y="2962275"/>
            <a:ext cx="200025" cy="22860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82012" y="2962275"/>
            <a:ext cx="257175" cy="2286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1500" y="434816"/>
            <a:ext cx="11601450" cy="49244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1" i="0" u="none" dirty="0" err="1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sz="3200" b="1" i="0" u="none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b="1" i="0" u="none" dirty="0" err="1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nghệ</a:t>
            </a:r>
            <a:r>
              <a:rPr sz="3200" b="1" i="0" u="none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Frontend &amp; </a:t>
            </a:r>
            <a:r>
              <a:rPr sz="3200" b="1" i="0" u="none" dirty="0" err="1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Giao</a:t>
            </a:r>
            <a:r>
              <a:rPr sz="3200" b="1" i="0" u="none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b="1" i="0" u="none" dirty="0" err="1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diện</a:t>
            </a:r>
            <a:endParaRPr sz="3200" b="1" i="0" u="none" dirty="0">
              <a:solidFill>
                <a:srgbClr val="0F172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571500" y="885825"/>
            <a:ext cx="57150" cy="304800"/>
          </a:xfrm>
          <a:prstGeom prst="roundRect">
            <a:avLst>
              <a:gd name="adj" fmla="val 5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1524"/>
    </mc:Choice>
    <mc:Fallback xmlns="">
      <p:transition spd="slow" advTm="31524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662" y="1871662"/>
            <a:ext cx="1209675" cy="3143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" y="-178130"/>
            <a:ext cx="11049000" cy="59055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428873" y="2376487"/>
            <a:ext cx="6191251" cy="677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400" b="0" i="0" u="none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PHÂN TÍCH HỆ THỐNG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28875" y="3148012"/>
            <a:ext cx="6191250" cy="5927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b="0" i="0" u="none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Xác định yêu cầu chức năng, phi chức năng và mô hình hóa quy trình nghiệp vụ khách sạn</a:t>
            </a:r>
          </a:p>
        </p:txBody>
      </p:sp>
      <p:sp>
        <p:nvSpPr>
          <p:cNvPr id="7" name="Rectangle 6"/>
          <p:cNvSpPr/>
          <p:nvPr/>
        </p:nvSpPr>
        <p:spPr>
          <a:xfrm>
            <a:off x="5143500" y="3995737"/>
            <a:ext cx="762000" cy="3810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299"/>
    </mc:Choice>
    <mc:Fallback xmlns="">
      <p:transition spd="slow" advTm="8299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524125"/>
            <a:ext cx="11049000" cy="2505075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4358940"/>
              </p:ext>
            </p:extLst>
          </p:nvPr>
        </p:nvGraphicFramePr>
        <p:xfrm>
          <a:off x="581025" y="2533650"/>
          <a:ext cx="11029948" cy="24860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00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338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160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7205">
                <a:tc>
                  <a:txBody>
                    <a:bodyPr/>
                    <a:lstStyle/>
                    <a:p>
                      <a:pPr algn="l"/>
                      <a:r>
                        <a:rPr sz="1600" b="0" i="0" u="none" dirty="0" err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Nhóm</a:t>
                      </a:r>
                      <a:r>
                        <a:rPr sz="1600" b="0" i="0" u="none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chức</a:t>
                      </a:r>
                      <a:r>
                        <a:rPr sz="1600" b="0" i="0" u="none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năng</a:t>
                      </a:r>
                      <a:endParaRPr sz="1600" b="0" i="0" u="none" dirty="0">
                        <a:solidFill>
                          <a:srgbClr val="FFFFFF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 i="0" u="none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Chức năng chi tiết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 i="0" u="none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Đối tượng áp dụng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7205">
                <a:tc>
                  <a:txBody>
                    <a:bodyPr/>
                    <a:lstStyle/>
                    <a:p>
                      <a:pPr algn="l"/>
                      <a:r>
                        <a:rPr sz="1400" b="1" i="0" u="none">
                          <a:solidFill>
                            <a:srgbClr val="475569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Hệ thống chung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 u="none">
                          <a:solidFill>
                            <a:srgbClr val="475569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Xem trang chủ, danh sách loại phòng, gửi liên hệ đặt phòng, gửi phản hồi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 u="none">
                          <a:solidFill>
                            <a:srgbClr val="475569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Tất cả người dùng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7205">
                <a:tc>
                  <a:txBody>
                    <a:bodyPr/>
                    <a:lstStyle/>
                    <a:p>
                      <a:pPr algn="l"/>
                      <a:r>
                        <a:rPr sz="1400" b="1" i="0" u="none">
                          <a:solidFill>
                            <a:srgbClr val="475569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Nghiệp vụ phòng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 u="none">
                          <a:solidFill>
                            <a:srgbClr val="475569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Quản lý danh sách phòng, quản lý loại phòng, dịch vụ đi kèm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 u="none">
                          <a:solidFill>
                            <a:srgbClr val="475569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Nhân viên, Quản lý, Admin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7205">
                <a:tc>
                  <a:txBody>
                    <a:bodyPr/>
                    <a:lstStyle/>
                    <a:p>
                      <a:pPr algn="l"/>
                      <a:r>
                        <a:rPr sz="1400" b="1" i="0" u="none">
                          <a:solidFill>
                            <a:srgbClr val="475569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Quản lý lưu trú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 u="none">
                          <a:solidFill>
                            <a:srgbClr val="475569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Xử lý phiếu đặt phòng, phiếu thuê phòng, lập hóa đơn thanh toán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 u="none">
                          <a:solidFill>
                            <a:srgbClr val="475569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Nhân viên, Quản lý, Admin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7205">
                <a:tc>
                  <a:txBody>
                    <a:bodyPr/>
                    <a:lstStyle/>
                    <a:p>
                      <a:pPr algn="l"/>
                      <a:r>
                        <a:rPr sz="1400" b="1" i="0" u="none">
                          <a:solidFill>
                            <a:srgbClr val="475569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Quản trị &amp; Phân quyền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 u="none">
                          <a:solidFill>
                            <a:srgbClr val="475569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Quản lý tài khoản nhân viên, phân quyền nhóm người dùng, đổi mật khẩu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 u="none" dirty="0" err="1">
                          <a:solidFill>
                            <a:srgbClr val="475569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Quản</a:t>
                      </a:r>
                      <a:r>
                        <a:rPr sz="1400" b="0" i="0" u="none" dirty="0">
                          <a:solidFill>
                            <a:srgbClr val="475569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400" b="0" i="0" u="none" dirty="0" err="1">
                          <a:solidFill>
                            <a:srgbClr val="475569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trị</a:t>
                      </a:r>
                      <a:r>
                        <a:rPr sz="1400" b="0" i="0" u="none" dirty="0">
                          <a:solidFill>
                            <a:srgbClr val="475569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400" b="0" i="0" u="none" dirty="0" err="1">
                          <a:solidFill>
                            <a:srgbClr val="475569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hệ</a:t>
                      </a:r>
                      <a:r>
                        <a:rPr sz="1400" b="0" i="0" u="none" dirty="0">
                          <a:solidFill>
                            <a:srgbClr val="475569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400" b="0" i="0" u="none" dirty="0" err="1">
                          <a:solidFill>
                            <a:srgbClr val="475569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thống</a:t>
                      </a:r>
                      <a:r>
                        <a:rPr sz="1400" b="0" i="0" u="none" dirty="0">
                          <a:solidFill>
                            <a:srgbClr val="475569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(Admin)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581025" y="3543300"/>
            <a:ext cx="2280046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861071" y="3543300"/>
            <a:ext cx="623381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9094886" y="3543300"/>
            <a:ext cx="2516088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81025" y="4033837"/>
            <a:ext cx="2280046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861071" y="4033837"/>
            <a:ext cx="623381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9094886" y="4033837"/>
            <a:ext cx="2516088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81025" y="4524375"/>
            <a:ext cx="2280046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861071" y="4524375"/>
            <a:ext cx="623381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9094886" y="4524375"/>
            <a:ext cx="2516088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71500" y="434816"/>
            <a:ext cx="11601450" cy="49244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1" i="0" u="none" dirty="0" err="1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Yêu</a:t>
            </a:r>
            <a:r>
              <a:rPr sz="3200" b="1" i="0" u="none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b="1" i="0" u="none" dirty="0" err="1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cầu</a:t>
            </a:r>
            <a:r>
              <a:rPr sz="3200" b="1" i="0" u="none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b="1" i="0" u="none" dirty="0" err="1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Chức</a:t>
            </a:r>
            <a:r>
              <a:rPr sz="3200" b="1" i="0" u="none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b="1" i="0" u="none" dirty="0" err="1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sz="3200" b="1" i="0" u="none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b="1" i="0" u="none" dirty="0" err="1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sz="3200" b="1" i="0" u="none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b="1" i="0" u="none" dirty="0" err="1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endParaRPr sz="3200" b="1" i="0" u="none" dirty="0">
              <a:solidFill>
                <a:srgbClr val="0F172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571500" y="885825"/>
            <a:ext cx="57150" cy="304800"/>
          </a:xfrm>
          <a:prstGeom prst="roundRect">
            <a:avLst>
              <a:gd name="adj" fmla="val 5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5706"/>
    </mc:Choice>
    <mc:Fallback xmlns="">
      <p:transition spd="slow" advTm="45706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00125" y="2750343"/>
            <a:ext cx="10620375" cy="4873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400" b="1" i="0" u="none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Bảo mật &amp; Phân quyền:</a:t>
            </a:r>
            <a:r>
              <a:rPr sz="1400" b="0" i="0" u="none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Hệ thống mã hóa thông tin đăng nhập, phân quyền chi tiết cho từng vai trò người dùng (Khách hàng, Nhân viên, Quản lý, Admin).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0125" y="3445668"/>
            <a:ext cx="10620375" cy="243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400" b="1" i="0" u="none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Giao diện Thân thiện:</a:t>
            </a:r>
            <a:r>
              <a:rPr sz="1400" b="0" i="0" u="none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Thiết kế trực quan, bố cục khoa học, màu sắc chuẩn dịch vụ nghỉ dưỡng giúp người dùng dễ thao tác ngay lần đầu.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0125" y="3898106"/>
            <a:ext cx="10620375" cy="2248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400" b="1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Hiệu</a:t>
            </a:r>
            <a:r>
              <a:rPr sz="1400" b="1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1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sz="1400" b="1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&amp; </a:t>
            </a:r>
            <a:r>
              <a:rPr sz="1400" b="1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Tốc</a:t>
            </a:r>
            <a:r>
              <a:rPr sz="1400" b="1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1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độ</a:t>
            </a:r>
            <a:r>
              <a:rPr sz="1400" b="1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Tối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ưu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hóa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câu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lệnh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LINQ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CSDL SQL Server,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áp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Bundling &amp;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Minification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giúp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tốc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độ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tải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trang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nhanh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chóng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0125" y="4350543"/>
            <a:ext cx="10620375" cy="2248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400" b="1" i="0" u="none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Tính Tương thích:</a:t>
            </a:r>
            <a:r>
              <a:rPr sz="1400" b="0" i="0" u="none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Tương thích hoàn hảo trên các trình duyệt phổ biến (Chrome, Edge, Firefox) và đa dạng kích thước màn hình.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764631"/>
            <a:ext cx="209550" cy="219075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3459956"/>
            <a:ext cx="238125" cy="219075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3912393"/>
            <a:ext cx="209550" cy="219075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4364831"/>
            <a:ext cx="161925" cy="21907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71500" y="465594"/>
            <a:ext cx="1160145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 i="0" u="none" dirty="0" err="1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Yêu</a:t>
            </a:r>
            <a:r>
              <a:rPr sz="2800" b="1" i="0" u="none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800" b="1" i="0" u="none" dirty="0" err="1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cầu</a:t>
            </a:r>
            <a:r>
              <a:rPr sz="2800" b="1" i="0" u="none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Phi </a:t>
            </a:r>
            <a:r>
              <a:rPr sz="2800" b="1" i="0" u="none" dirty="0" err="1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chức</a:t>
            </a:r>
            <a:r>
              <a:rPr sz="2800" b="1" i="0" u="none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800" b="1" i="0" u="none" dirty="0" err="1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endParaRPr sz="2800" b="1" i="0" u="none" dirty="0">
              <a:solidFill>
                <a:srgbClr val="0F172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571500" y="885825"/>
            <a:ext cx="57150" cy="304800"/>
          </a:xfrm>
          <a:prstGeom prst="roundRect">
            <a:avLst>
              <a:gd name="adj" fmla="val 5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4770"/>
    </mc:Choice>
    <mc:Fallback xmlns="">
      <p:transition spd="slow" advTm="3477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1080" y="2982366"/>
            <a:ext cx="571500" cy="5715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3744366"/>
            <a:ext cx="2430660" cy="1207591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73760" y="2982366"/>
            <a:ext cx="571500" cy="5715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44180" y="3744366"/>
            <a:ext cx="2430660" cy="1207591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46441" y="2982366"/>
            <a:ext cx="571500" cy="5715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16860" y="3744366"/>
            <a:ext cx="2430660" cy="1207591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19121" y="2982366"/>
            <a:ext cx="571500" cy="5715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89541" y="3744366"/>
            <a:ext cx="2430660" cy="1207591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1123950" y="3627476"/>
            <a:ext cx="9944100" cy="381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70753" y="3925341"/>
            <a:ext cx="2232153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i="0" u="none">
                <a:solidFill>
                  <a:srgbClr val="0369A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 cứu &amp; Đặt phòng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900" y="4211091"/>
            <a:ext cx="2125860" cy="5770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70"/>
              </a:lnSpc>
            </a:pPr>
            <a:r>
              <a:rPr sz="1200"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Khách</a:t>
            </a:r>
            <a:r>
              <a:rPr sz="1200"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200"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sz="1200"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200"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chọn</a:t>
            </a:r>
            <a:r>
              <a:rPr sz="1200"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200"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loại</a:t>
            </a:r>
            <a:r>
              <a:rPr sz="1200"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200"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phòng</a:t>
            </a:r>
            <a:r>
              <a:rPr sz="1200"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1200"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thời</a:t>
            </a:r>
            <a:r>
              <a:rPr sz="1200"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200"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gian</a:t>
            </a:r>
            <a:r>
              <a:rPr sz="1200"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200"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lưu</a:t>
            </a:r>
            <a:r>
              <a:rPr sz="1200"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200"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trú</a:t>
            </a:r>
            <a:r>
              <a:rPr sz="1200"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200"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sz="1200"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200"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gửi</a:t>
            </a:r>
            <a:r>
              <a:rPr sz="1200"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200"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r>
              <a:rPr sz="1200"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tin </a:t>
            </a:r>
            <a:r>
              <a:rPr sz="1200"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phiếu</a:t>
            </a:r>
            <a:r>
              <a:rPr sz="1200"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200"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đặt</a:t>
            </a:r>
            <a:r>
              <a:rPr sz="1200"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200"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phòng</a:t>
            </a:r>
            <a:r>
              <a:rPr sz="1200"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43433" y="3925341"/>
            <a:ext cx="2232153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i="0" u="none">
                <a:solidFill>
                  <a:srgbClr val="0369A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Check-in (Thuê phòng)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96580" y="4211091"/>
            <a:ext cx="2125860" cy="5770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70"/>
              </a:lnSpc>
            </a:pPr>
            <a:r>
              <a:rPr sz="1200" b="0" i="0" u="none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Nhân viên xác nhận thông tin, lập phiếu thuê phòng và giao phòng cho khách.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6114" y="3925341"/>
            <a:ext cx="2232153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i="0" u="none">
                <a:solidFill>
                  <a:srgbClr val="0369A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Sử dụng Dịch vụ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9260" y="4211091"/>
            <a:ext cx="2125860" cy="5770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70"/>
              </a:lnSpc>
            </a:pPr>
            <a:r>
              <a:rPr sz="1200" b="0" i="0" u="none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Ghi nhận phát sinh các dịch vụ ăn uống, giặt ủi trong suốt kỳ nghỉ của khách.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88794" y="3925341"/>
            <a:ext cx="2232153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i="0" u="none">
                <a:solidFill>
                  <a:srgbClr val="0369A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Check-out &amp; Hóa đơn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41941" y="4211091"/>
            <a:ext cx="2125860" cy="5770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70"/>
              </a:lnSpc>
            </a:pPr>
            <a:r>
              <a:rPr sz="1200" b="0" i="0" u="none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Tính tổng tiền phòng + dịch vụ, lập hóa đơn, thu tiền và hoàn tất thủ tục trả phòng.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1500" y="404039"/>
            <a:ext cx="11601450" cy="5539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600" b="1" i="0" u="none" dirty="0" err="1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Quy</a:t>
            </a:r>
            <a:r>
              <a:rPr sz="3600" b="1" i="0" u="none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600" b="1" i="0" u="none" dirty="0" err="1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trình</a:t>
            </a:r>
            <a:r>
              <a:rPr sz="3600" b="1" i="0" u="none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600" b="1" i="0" u="none" dirty="0" err="1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Nghiệp</a:t>
            </a:r>
            <a:r>
              <a:rPr sz="3600" b="1" i="0" u="none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600" b="1" i="0" u="none" dirty="0" err="1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vụ</a:t>
            </a:r>
            <a:r>
              <a:rPr sz="3600" b="1" i="0" u="none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600" b="1" i="0" u="none" dirty="0" err="1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Khách</a:t>
            </a:r>
            <a:r>
              <a:rPr sz="3600" b="1" i="0" u="none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600" b="1" i="0" u="none" dirty="0" err="1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sạn</a:t>
            </a:r>
            <a:endParaRPr sz="3600" b="1" i="0" u="none" dirty="0">
              <a:solidFill>
                <a:srgbClr val="0F172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71500" y="885825"/>
            <a:ext cx="57150" cy="304800"/>
          </a:xfrm>
          <a:prstGeom prst="roundRect">
            <a:avLst>
              <a:gd name="adj" fmla="val 5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8082"/>
    </mc:Choice>
    <mc:Fallback xmlns="">
      <p:transition spd="slow" advTm="28082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662" y="1871662"/>
            <a:ext cx="1209675" cy="3143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" y="-24979"/>
            <a:ext cx="11049000" cy="59055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428875" y="2003263"/>
            <a:ext cx="6191250" cy="677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400" b="0" i="0" u="none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THIẾT KẾ HỆ THỐNG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64426" y="2774788"/>
            <a:ext cx="7350826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Kiến</a:t>
            </a:r>
            <a:r>
              <a:rPr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trúc</a:t>
            </a:r>
            <a:r>
              <a:rPr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cơ</a:t>
            </a:r>
            <a:r>
              <a:rPr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sở</a:t>
            </a:r>
            <a:r>
              <a:rPr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quan</a:t>
            </a:r>
            <a:r>
              <a:rPr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hóa</a:t>
            </a:r>
            <a:r>
              <a:rPr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cấu</a:t>
            </a:r>
            <a:r>
              <a:rPr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trúc</a:t>
            </a:r>
            <a:r>
              <a:rPr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màn</a:t>
            </a:r>
            <a:r>
              <a:rPr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endParaRPr b="0" i="0" u="none" dirty="0">
              <a:solidFill>
                <a:srgbClr val="64748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143500" y="3155983"/>
            <a:ext cx="762000" cy="3810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186"/>
    </mc:Choice>
    <mc:Fallback xmlns="">
      <p:transition spd="slow" advTm="6186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905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0" y="1966912"/>
            <a:ext cx="5334000" cy="3619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0125" y="2490787"/>
            <a:ext cx="4905375" cy="728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400" b="1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Chuẩn</a:t>
            </a:r>
            <a:r>
              <a:rPr sz="1400" b="1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1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hóa</a:t>
            </a:r>
            <a:r>
              <a:rPr sz="1400" b="1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1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sz="1400" b="1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1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sz="1400" b="1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CSDL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gồm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bảng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chính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Phong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LoaiPhong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DichVu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PhieuDatPhong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PhieuThuePhong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HoaDon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KhachHang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NhanVien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0125" y="3429000"/>
            <a:ext cx="4905375" cy="4647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400" b="1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Ràng</a:t>
            </a:r>
            <a:r>
              <a:rPr sz="1400" b="1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1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buộc</a:t>
            </a:r>
            <a:r>
              <a:rPr sz="1400" b="1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1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Toàn</a:t>
            </a:r>
            <a:r>
              <a:rPr sz="1400" b="1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1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vẹn</a:t>
            </a:r>
            <a:r>
              <a:rPr sz="1400" b="1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Thiết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lập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chính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xác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khóa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chính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khóa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ngoại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(FK)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giữa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thể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để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đảm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bảo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luôn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đồng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nhất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0125" y="4367212"/>
            <a:ext cx="4905375" cy="4647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400" b="1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Tách</a:t>
            </a:r>
            <a:r>
              <a:rPr sz="1400" b="1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1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biệt</a:t>
            </a:r>
            <a:r>
              <a:rPr sz="1400" b="1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1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Phân</a:t>
            </a:r>
            <a:r>
              <a:rPr sz="1400" b="1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1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sz="1400" b="1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Phân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chia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phục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vụ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giao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diện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Khách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(Client View)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Phân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Nghiệp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vụ</a:t>
            </a:r>
            <a:r>
              <a:rPr sz="1400" b="0" i="0" u="none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(Admin Console).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6025" y="1976437"/>
            <a:ext cx="5314950" cy="360045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2505075"/>
            <a:ext cx="238125" cy="219075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3443287"/>
            <a:ext cx="266700" cy="219075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500" y="4381500"/>
            <a:ext cx="238125" cy="21907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71500" y="404039"/>
            <a:ext cx="11601450" cy="5539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600" b="1" i="0" u="none" dirty="0" err="1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sz="3600" b="1" i="0" u="none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600" b="1" i="0" u="none" dirty="0" err="1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sz="3600" b="1" i="0" u="none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600" b="1" i="0" u="none" dirty="0" err="1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Cơ</a:t>
            </a:r>
            <a:r>
              <a:rPr sz="3600" b="1" i="0" u="none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600" b="1" i="0" u="none" dirty="0" err="1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sở</a:t>
            </a:r>
            <a:r>
              <a:rPr sz="3600" b="1" i="0" u="none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600" b="1" i="0" u="none" dirty="0" err="1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sz="3600" b="1" i="0" u="none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600" b="1" i="0" u="none" dirty="0" err="1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endParaRPr sz="3600" b="1" i="0" u="none" dirty="0">
              <a:solidFill>
                <a:srgbClr val="0F172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571500" y="885825"/>
            <a:ext cx="57150" cy="304800"/>
          </a:xfrm>
          <a:prstGeom prst="roundRect">
            <a:avLst>
              <a:gd name="adj" fmla="val 5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7270"/>
    </mc:Choice>
    <mc:Fallback xmlns="">
      <p:transition spd="slow" advTm="2727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6787" y="1871662"/>
            <a:ext cx="1495425" cy="3143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1049000" cy="59055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428875" y="2376487"/>
            <a:ext cx="619125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000" b="0" i="0" u="none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QUẢ &amp; KẾT LUẬN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28875" y="3148012"/>
            <a:ext cx="6191250" cy="5927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Đánh</a:t>
            </a:r>
            <a:r>
              <a:rPr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giá</a:t>
            </a:r>
            <a:r>
              <a:rPr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tổng</a:t>
            </a:r>
            <a:r>
              <a:rPr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quan</a:t>
            </a:r>
            <a:r>
              <a:rPr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quả</a:t>
            </a:r>
            <a:r>
              <a:rPr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đạt</a:t>
            </a:r>
            <a:r>
              <a:rPr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được</a:t>
            </a:r>
            <a:r>
              <a:rPr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ưu</a:t>
            </a:r>
            <a:r>
              <a:rPr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nhược</a:t>
            </a:r>
            <a:r>
              <a:rPr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điểm</a:t>
            </a:r>
            <a:r>
              <a:rPr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hướng</a:t>
            </a:r>
            <a:r>
              <a:rPr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phát</a:t>
            </a:r>
            <a:r>
              <a:rPr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triển</a:t>
            </a:r>
            <a:r>
              <a:rPr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b="0" i="0" u="none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i="0" u="none" dirty="0" err="1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endParaRPr b="0" i="0" u="none" dirty="0">
              <a:solidFill>
                <a:srgbClr val="64748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143500" y="3995737"/>
            <a:ext cx="762000" cy="3810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581"/>
    </mc:Choice>
    <mc:Fallback xmlns="">
      <p:transition spd="slow" advTm="658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543175"/>
            <a:ext cx="5334000" cy="246697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2543175"/>
            <a:ext cx="5334000" cy="24669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19200" y="2880926"/>
            <a:ext cx="456057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1" i="0" u="none">
                <a:solidFill>
                  <a:srgbClr val="16A34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Ưu điểm nổi bật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34200" y="2880926"/>
            <a:ext cx="456057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1" i="0" u="none">
                <a:solidFill>
                  <a:srgbClr val="EA580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Hạn chế &amp; Đề xuất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2914650"/>
            <a:ext cx="209550" cy="2095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" y="3295650"/>
            <a:ext cx="4419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400" b="0" i="0" u="none" dirty="0" err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Giao</a:t>
            </a:r>
            <a:r>
              <a:rPr sz="1400" b="0" i="0" u="none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diện</a:t>
            </a:r>
            <a:r>
              <a:rPr sz="1400" b="0" i="0" u="none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r>
              <a:rPr sz="1400" b="0" i="0" u="none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đại</a:t>
            </a:r>
            <a:r>
              <a:rPr sz="1400" b="0" i="0" u="none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1400" b="0" i="0" u="none" dirty="0" err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chuyên</a:t>
            </a:r>
            <a:r>
              <a:rPr sz="1400" b="0" i="0" u="none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0" i="0" u="none" dirty="0" err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nghiệp</a:t>
            </a:r>
            <a:r>
              <a:rPr sz="1400" b="0" i="0" u="none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1400" b="0" i="0" u="none" dirty="0" err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chuẩn</a:t>
            </a:r>
            <a:r>
              <a:rPr sz="1400" b="0" i="0" u="none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responsive.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38550"/>
            <a:ext cx="4419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400" b="0" i="0" u="none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Nghiệp vụ quản lý phòng, dịch vụ, hóa đơn chính xác.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981450"/>
            <a:ext cx="4419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400" b="0" i="0" u="none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Tự động hóa giúp tiết kiệm thời gian vận hành.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324350"/>
            <a:ext cx="4419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400" b="0" i="0" u="none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Bảo mật cao nhờ cơ chế Authentication Filter.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400" y="2914650"/>
            <a:ext cx="209550" cy="2095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58000" y="3295650"/>
            <a:ext cx="4419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400" b="0" i="0" u="none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Tích hợp thêm thanh toán trực tuyến (VNPay, MoMo).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3638550"/>
            <a:ext cx="4419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400" b="0" i="0" u="none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Bổ sung tính năng tự động gửi Email xác nhận.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3981450"/>
            <a:ext cx="4419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400" b="0" i="0" u="none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Phát triển ứng dụng di động (Mobile App) hỗ trợ.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4324350"/>
            <a:ext cx="4419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400" b="0" i="0" u="none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Nâng cấp báo cáo thống kê doanh thu dạng biểu đồ.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295650"/>
            <a:ext cx="152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0284C7"/>
                </a:solidFill>
                <a:latin typeface="Inter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638550"/>
            <a:ext cx="152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0284C7"/>
                </a:solidFill>
                <a:latin typeface="Inter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981450"/>
            <a:ext cx="152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0284C7"/>
                </a:solidFill>
                <a:latin typeface="Inter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324350"/>
            <a:ext cx="152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0284C7"/>
                </a:solidFill>
                <a:latin typeface="Inter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3295650"/>
            <a:ext cx="152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0284C7"/>
                </a:solidFill>
                <a:latin typeface="Inter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3638550"/>
            <a:ext cx="152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0284C7"/>
                </a:solidFill>
                <a:latin typeface="Inter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3981450"/>
            <a:ext cx="152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0284C7"/>
                </a:solidFill>
                <a:latin typeface="Inter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4324350"/>
            <a:ext cx="152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0284C7"/>
                </a:solidFill>
                <a:latin typeface="Inter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1500" y="434816"/>
            <a:ext cx="11601450" cy="49244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1" i="0" u="none" dirty="0" err="1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Nhận</a:t>
            </a:r>
            <a:r>
              <a:rPr sz="3200" b="1" i="0" u="none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b="1" i="0" u="none" dirty="0" err="1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xét</a:t>
            </a:r>
            <a:r>
              <a:rPr sz="3200" b="1" i="0" u="none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&amp; </a:t>
            </a:r>
            <a:r>
              <a:rPr sz="3200" b="1" i="0" u="none" dirty="0" err="1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Đánh</a:t>
            </a:r>
            <a:r>
              <a:rPr sz="3200" b="1" i="0" u="none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b="1" i="0" u="none" dirty="0" err="1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giá</a:t>
            </a:r>
            <a:r>
              <a:rPr sz="3200" b="1" i="0" u="none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b="1" i="0" u="none" dirty="0" err="1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Dự</a:t>
            </a:r>
            <a:r>
              <a:rPr sz="3200" b="1" i="0" u="none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b="1" i="0" u="none" dirty="0" err="1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án</a:t>
            </a:r>
            <a:endParaRPr sz="3200" b="1" i="0" u="none" dirty="0">
              <a:solidFill>
                <a:srgbClr val="0F172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571500" y="885825"/>
            <a:ext cx="57150" cy="304800"/>
          </a:xfrm>
          <a:prstGeom prst="roundRect">
            <a:avLst>
              <a:gd name="adj" fmla="val 5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1240"/>
    </mc:Choice>
    <mc:Fallback xmlns="">
      <p:transition spd="slow" advTm="3124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3137" y="3362325"/>
            <a:ext cx="6562725" cy="6858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1049000" cy="59055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649015" y="1857375"/>
            <a:ext cx="7750968" cy="677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400" b="0" i="0" u="none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CẢM ƠN THẦY VÀ CÁC BẠN!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85950" y="2667000"/>
            <a:ext cx="7277100" cy="2945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75"/>
              </a:lnSpc>
            </a:pPr>
            <a:r>
              <a:rPr b="0" i="0" u="none" dirty="0" err="1">
                <a:solidFill>
                  <a:srgbClr val="38BDF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Rất</a:t>
            </a:r>
            <a:r>
              <a:rPr b="0" i="0" u="none" dirty="0">
                <a:solidFill>
                  <a:srgbClr val="38BDF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i="0" u="none" dirty="0" err="1">
                <a:solidFill>
                  <a:srgbClr val="38BDF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mong</a:t>
            </a:r>
            <a:r>
              <a:rPr b="0" i="0" u="none" dirty="0">
                <a:solidFill>
                  <a:srgbClr val="38BDF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i="0" u="none" dirty="0" err="1">
                <a:solidFill>
                  <a:srgbClr val="38BDF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nhận</a:t>
            </a:r>
            <a:r>
              <a:rPr b="0" i="0" u="none" dirty="0">
                <a:solidFill>
                  <a:srgbClr val="38BDF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i="0" u="none" dirty="0" err="1">
                <a:solidFill>
                  <a:srgbClr val="38BDF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được</a:t>
            </a:r>
            <a:r>
              <a:rPr b="0" i="0" u="none" dirty="0">
                <a:solidFill>
                  <a:srgbClr val="38BDF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i="0" u="none" dirty="0" err="1">
                <a:solidFill>
                  <a:srgbClr val="38BDF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đóng</a:t>
            </a:r>
            <a:r>
              <a:rPr b="0" i="0" u="none" dirty="0">
                <a:solidFill>
                  <a:srgbClr val="38BDF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i="0" u="none" dirty="0" err="1">
                <a:solidFill>
                  <a:srgbClr val="38BDF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góp</a:t>
            </a:r>
            <a:r>
              <a:rPr b="0" i="0" u="none" dirty="0">
                <a:solidFill>
                  <a:srgbClr val="38BDF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ý </a:t>
            </a:r>
            <a:r>
              <a:rPr b="0" i="0" u="none" dirty="0" err="1">
                <a:solidFill>
                  <a:srgbClr val="38BDF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kiến</a:t>
            </a:r>
            <a:r>
              <a:rPr b="0" i="0" u="none" dirty="0">
                <a:solidFill>
                  <a:srgbClr val="38BDF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i="0" u="none" dirty="0" err="1">
                <a:solidFill>
                  <a:srgbClr val="38BDF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từ</a:t>
            </a:r>
            <a:r>
              <a:rPr b="0" i="0" u="none" dirty="0">
                <a:solidFill>
                  <a:srgbClr val="38BDF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i="0" u="none" dirty="0" err="1">
                <a:solidFill>
                  <a:srgbClr val="38BDF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Giảng</a:t>
            </a:r>
            <a:r>
              <a:rPr b="0" i="0" u="none" dirty="0">
                <a:solidFill>
                  <a:srgbClr val="38BDF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i="0" u="none" dirty="0" err="1">
                <a:solidFill>
                  <a:srgbClr val="38BDF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viên</a:t>
            </a:r>
            <a:r>
              <a:rPr b="0" i="0" u="none" dirty="0">
                <a:solidFill>
                  <a:srgbClr val="38BDF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i="0" u="none" dirty="0" err="1">
                <a:solidFill>
                  <a:srgbClr val="38BDF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hướng</a:t>
            </a:r>
            <a:r>
              <a:rPr b="0" i="0" u="none" dirty="0">
                <a:solidFill>
                  <a:srgbClr val="38BDF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i="0" u="none" dirty="0" err="1">
                <a:solidFill>
                  <a:srgbClr val="38BDF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dẫn</a:t>
            </a:r>
            <a:r>
              <a:rPr b="0" i="0" u="none" dirty="0">
                <a:solidFill>
                  <a:srgbClr val="38BDF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&amp; </a:t>
            </a:r>
            <a:r>
              <a:rPr b="0" i="0" u="none" dirty="0" err="1">
                <a:solidFill>
                  <a:srgbClr val="38BDF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Hội</a:t>
            </a:r>
            <a:r>
              <a:rPr b="0" i="0" u="none" dirty="0">
                <a:solidFill>
                  <a:srgbClr val="38BDF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b="0" i="0" u="none" dirty="0" err="1">
                <a:solidFill>
                  <a:srgbClr val="38BDF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đồng</a:t>
            </a:r>
            <a:endParaRPr b="0" i="0" u="none" dirty="0">
              <a:solidFill>
                <a:srgbClr val="38BDF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957511" y="3605198"/>
            <a:ext cx="2752725" cy="2000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0" u="none" dirty="0" err="1">
                <a:solidFill>
                  <a:srgbClr val="CBD5E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Lê</a:t>
            </a:r>
            <a:r>
              <a:rPr sz="1300" b="0" i="0" u="none" dirty="0">
                <a:solidFill>
                  <a:srgbClr val="CBD5E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300" b="0" i="0" u="none" dirty="0" err="1">
                <a:solidFill>
                  <a:srgbClr val="CBD5E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Quang</a:t>
            </a:r>
            <a:r>
              <a:rPr sz="1300" b="0" i="0" u="none" dirty="0">
                <a:solidFill>
                  <a:srgbClr val="CBD5E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300" b="0" i="0" u="none" dirty="0" err="1">
                <a:solidFill>
                  <a:srgbClr val="CBD5E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Đẳng</a:t>
            </a:r>
            <a:r>
              <a:rPr sz="1300" b="0" i="0" u="none" dirty="0">
                <a:solidFill>
                  <a:srgbClr val="CBD5E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(MSSV: 170125073)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96012" y="3605198"/>
            <a:ext cx="2342346" cy="2000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0" u="none" dirty="0">
                <a:solidFill>
                  <a:srgbClr val="CBD5E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GVHD: TS. </a:t>
            </a:r>
            <a:r>
              <a:rPr sz="1300" b="0" i="0" u="none" dirty="0" err="1">
                <a:solidFill>
                  <a:srgbClr val="CBD5E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Nguyễn</a:t>
            </a:r>
            <a:r>
              <a:rPr sz="1300" b="0" i="0" u="none" dirty="0">
                <a:solidFill>
                  <a:srgbClr val="CBD5E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300" b="0" i="0" u="none" dirty="0" err="1">
                <a:solidFill>
                  <a:srgbClr val="CBD5E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Nhứt</a:t>
            </a:r>
            <a:r>
              <a:rPr lang="en-US" sz="1300" b="0" i="0" u="none" dirty="0">
                <a:solidFill>
                  <a:srgbClr val="CBD5E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Lam</a:t>
            </a:r>
            <a:endParaRPr sz="1300" b="0" i="0" u="none" dirty="0">
              <a:solidFill>
                <a:srgbClr val="CBD5E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28912" y="3629025"/>
            <a:ext cx="133350" cy="1524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10262" y="3629025"/>
            <a:ext cx="190500" cy="152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2525"/>
    </mc:Choice>
    <mc:Fallback xmlns="">
      <p:transition spd="slow" advTm="12525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71500" y="3009900"/>
            <a:ext cx="11049000" cy="771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71500" y="3771900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71500" y="3771900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3152775"/>
            <a:ext cx="857250" cy="4762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66875" y="3159918"/>
            <a:ext cx="9953625" cy="192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1050" b="0" i="0" u="none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https://cdn.dribbble.com/userupload/45547937/file/f216b0f70a69f5929b8c956c5b59b7b4.png?format=webp&amp;resize=400x300&amp;vertical=center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66875" y="3393281"/>
            <a:ext cx="995362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600" b="0" i="0" u="none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Source: </a:t>
            </a:r>
            <a:r>
              <a:rPr sz="1600" b="0" i="0" u="none">
                <a:solidFill>
                  <a:srgbClr val="4F46E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dribbble.com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3924300"/>
            <a:ext cx="857250" cy="4762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666875" y="3931443"/>
            <a:ext cx="9953625" cy="1743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1050" b="0" i="0" u="none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https://images.hanselman.com/blog/layeredarch.png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6875" y="4164806"/>
            <a:ext cx="9953625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600" b="0" i="0" u="none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Source: </a:t>
            </a:r>
            <a:r>
              <a:rPr sz="1600" b="0" i="0" u="none">
                <a:solidFill>
                  <a:srgbClr val="4F46E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www.hanselman.com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" y="434816"/>
            <a:ext cx="11601450" cy="49244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1" i="0" u="none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Image Sources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1500" y="885825"/>
            <a:ext cx="57150" cy="304800"/>
          </a:xfrm>
          <a:prstGeom prst="roundRect">
            <a:avLst>
              <a:gd name="adj" fmla="val 5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1289</Words>
  <Application>Microsoft Office PowerPoint</Application>
  <PresentationFormat>Widescreen</PresentationFormat>
  <Paragraphs>115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Inter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QUANGDANG</dc:creator>
  <cp:keywords/>
  <dc:description>generated using python-pptx</dc:description>
  <cp:lastModifiedBy>QUANGDANG</cp:lastModifiedBy>
  <cp:revision>19</cp:revision>
  <dcterms:created xsi:type="dcterms:W3CDTF">2013-01-27T09:14:16Z</dcterms:created>
  <dcterms:modified xsi:type="dcterms:W3CDTF">2026-08-07T11:00:37Z</dcterms:modified>
  <cp:category/>
</cp:coreProperties>
</file>