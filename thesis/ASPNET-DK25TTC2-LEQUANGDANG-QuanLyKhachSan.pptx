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1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png"/><Relationship Id="rId12" Type="http://schemas.openxmlformats.org/officeDocument/2006/relationships/image" Target="../media/image28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9.png"/><Relationship Id="rId11" Type="http://schemas.openxmlformats.org/officeDocument/2006/relationships/image" Target="../media/image27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1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7.pn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4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7.png"/><Relationship Id="rId5" Type="http://schemas.openxmlformats.org/officeDocument/2006/relationships/image" Target="../media/image44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6.png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5.png"/><Relationship Id="rId5" Type="http://schemas.openxmlformats.org/officeDocument/2006/relationships/image" Target="../media/image8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7.png"/><Relationship Id="rId5" Type="http://schemas.openxmlformats.org/officeDocument/2006/relationships/image" Target="../media/image49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2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5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4.png"/><Relationship Id="rId5" Type="http://schemas.openxmlformats.org/officeDocument/2006/relationships/image" Target="../media/image54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212" y="1160264"/>
            <a:ext cx="2314575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4002285"/>
            <a:ext cx="687705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9131" y="1617464"/>
            <a:ext cx="589073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750" b="0" i="0" u="none">
                <a:solidFill>
                  <a:srgbClr val="FFFFFF"/>
                </a:solidFill>
                <a:latin typeface="Plus Jakarta Sans ExtraBold"/>
              </a:rPr>
              <a:t>XÂY DỰNG WEBSITE</a:t>
            </a:r>
            <a:r>
              <a:t>
</a:t>
            </a:r>
            <a:r>
              <a:rPr sz="3750" b="0" i="0" u="none">
                <a:solidFill>
                  <a:srgbClr val="38BDF8"/>
                </a:solidFill>
                <a:latin typeface="Plus Jakarta Sans ExtraBold"/>
              </a:rPr>
              <a:t>ĐẶT PHÒNG KHÁCH SẠN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75" y="2950964"/>
            <a:ext cx="80962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Ứng dụng nền tảng ASP.NET MVC 5 &amp; SQL Server trong tối ưu hóa quy trình dịch vụ và quản lý lưu trú khách sạn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500" y="4202310"/>
            <a:ext cx="1724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Inter SemiBold"/>
              </a:rPr>
              <a:t>GIẢNG VIÊN HƯỚNG DẪN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6500" y="4354710"/>
            <a:ext cx="1724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Inter Medium"/>
              </a:rPr>
              <a:t>TS. </a:t>
            </a:r>
            <a:r>
              <a:rPr sz="1200" b="0" i="0" u="none" dirty="0" err="1">
                <a:solidFill>
                  <a:srgbClr val="F8FAFC"/>
                </a:solidFill>
                <a:latin typeface="Inter Medium"/>
              </a:rPr>
              <a:t>Nguyễn</a:t>
            </a:r>
            <a:r>
              <a:rPr sz="1200" b="0" i="0" u="none" dirty="0">
                <a:solidFill>
                  <a:srgbClr val="F8FAFC"/>
                </a:solidFill>
                <a:latin typeface="Inter Medium"/>
              </a:rPr>
              <a:t> </a:t>
            </a:r>
            <a:r>
              <a:rPr sz="1200" b="0" i="0" u="none" dirty="0" err="1" smtClean="0">
                <a:solidFill>
                  <a:srgbClr val="F8FAFC"/>
                </a:solidFill>
                <a:latin typeface="Inter Medium"/>
              </a:rPr>
              <a:t>Nh</a:t>
            </a:r>
            <a:r>
              <a:rPr lang="en-US" sz="1200" dirty="0" err="1" smtClean="0">
                <a:solidFill>
                  <a:srgbClr val="F8FAFC"/>
                </a:solidFill>
                <a:latin typeface="Inter Medium"/>
              </a:rPr>
              <a:t>ứt</a:t>
            </a:r>
            <a:r>
              <a:rPr lang="en-US" sz="1200" dirty="0" smtClean="0">
                <a:solidFill>
                  <a:srgbClr val="F8FAFC"/>
                </a:solidFill>
                <a:latin typeface="Inter Medium"/>
              </a:rPr>
              <a:t> Lam</a:t>
            </a:r>
            <a:endParaRPr sz="1200" b="0" i="0" u="none" dirty="0">
              <a:solidFill>
                <a:srgbClr val="F8FAFC"/>
              </a:solidFill>
              <a:latin typeface="Inter Medium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1525" y="4202310"/>
            <a:ext cx="25622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Inter SemiBold"/>
              </a:rPr>
              <a:t>SINH VIÊN THỰC HIỆN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4354710"/>
            <a:ext cx="25622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Medium"/>
              </a:rPr>
              <a:t>Lê Quang Đẳng - MSSV: 170125073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0" y="4202310"/>
            <a:ext cx="10477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Inter SemiBold"/>
              </a:rPr>
              <a:t>LỚP HỌC PHẦN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0" y="4354710"/>
            <a:ext cx="1047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Medium"/>
              </a:rPr>
              <a:t>DK25TTC2</a:t>
            </a:r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73"/>
    </mc:Choice>
    <mc:Fallback>
      <p:transition spd="slow" advTm="131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50" y="1871662"/>
            <a:ext cx="11811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49203" y="2376487"/>
            <a:ext cx="475059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TỔNG QUAN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5" y="3148012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Bối cảnh thực tiễn, tính cấp thiết và định hướng xây dựng giải pháp công nghệ số cho khách sạn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3500" y="399573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81"/>
    </mc:Choice>
    <mc:Fallback>
      <p:transition spd="slow" advTm="12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819400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Xu hướng chuyển đổi số: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Ngành du lịch - khách sạn gia tăng mạnh mẽ việc ứng dụng công nghệ thông tin vào quản lý dịch vụ.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457575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Nhu cầu khách hàng: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Khách lưu trú mong muốn tra cứu hình ảnh, loại phòng, xem giá công khai và đặt phòng từ xa tiện lợi.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95750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Tối ưu nghiệp vụ: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Tự động hóa công tác tiếp nhận đặt phòng, check-in, check-out và quản lý hóa đơn cho khách sạn.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976437"/>
            <a:ext cx="531495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833687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71862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110037"/>
            <a:ext cx="266700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Lý do chọn đề tài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udio 1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83"/>
    </mc:Choice>
    <mc:Fallback>
      <p:transition spd="slow" advTm="267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78856"/>
            <a:ext cx="5334000" cy="2995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278856"/>
            <a:ext cx="5334000" cy="2995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621756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Mục đích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31331"/>
            <a:ext cx="46482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Nghiên cứu ứng dụng các công nghệ hiện đại thuộc nền tảng .NET Framework để xây dựng hệ thống website hoàn chỉnh.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2621756"/>
            <a:ext cx="4590573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0369A1"/>
                </a:solidFill>
                <a:latin typeface="Plus Jakarta Sans"/>
              </a:rPr>
              <a:t>Mục tiêu sản phẩm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31331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Tạo ra hệ thống phần mềm đáp ứng tốt cả trải nghiệm người dùng và nhu cầu quản trị chuyên nghiệp.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650331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3902868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Nắm vững kiến thức phát triển web với ASP.NET MVC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45768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Sử dụng LINQ &amp; Entity Framework tương tác CSDL.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88668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Khảo sát &amp; chuẩn hóa quy trình nghiệp vụ khách sạn thực tế.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650331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3659981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Giao diện Khách hàng: Trực quan, tinh tế, mượt mà.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02881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Giao diện Quản trị: Hiện đại, tối giản, phân quyền rõ ràng.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45781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Tăng khả năng tiếp cận khách hàng và tối ưu doanh thu.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2868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45768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88668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659981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02881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345781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Mục đích và Mục tiêu nghiên cứu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Audio 2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56"/>
    </mc:Choice>
    <mc:Fallback>
      <p:transition spd="slow" advTm="418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662" y="1871662"/>
            <a:ext cx="1209675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8875" y="2376487"/>
            <a:ext cx="619125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CƠ SỞ LÝ THUYẾT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5" y="3148012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Tổng quan công nghệ Backend, Frontend và Hệ quản trị cơ sở dữ liệu được lựa chọn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3500" y="399573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841"/>
    </mc:Choice>
    <mc:Fallback>
      <p:transition spd="slow" advTm="88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14600"/>
            <a:ext cx="3524250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2514600"/>
            <a:ext cx="352425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2514600"/>
            <a:ext cx="352425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80987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33775"/>
            <a:ext cx="151018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ASP.NET MVC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86200"/>
            <a:ext cx="3028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Kiến trúc tách biệt Model-View-Controller giúp mã nguồn rõ ràng, dễ phát triển, hỗ trợ Routing, Authentication Filter và tích hợp sẵn Bootstrap.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280987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533775"/>
            <a:ext cx="245030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Entity Framework &amp; LINQ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86200"/>
            <a:ext cx="3028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Mô hình ORM giúp ánh xạ các bảng CSDL thành các đối tượng C#, viết truy vấn dữ liệu nhanh chóng, an toàn và hạn chế rủi ro SQL Injection.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280987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33775"/>
            <a:ext cx="207025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Microsoft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86200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Hệ quản trị CSDL quan hệ mạnh mẽ, lưu trữ và xử lý dữ liệu tin cậy, đảm bảo tính toàn vẹn và tối ưu hiệu năng truy vấn thông tin.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975" y="2962275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8212" y="2962275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300" y="296227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Công nghệ Backend &amp; CSDL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Audio 1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998"/>
    </mc:Choice>
    <mc:Fallback>
      <p:transition spd="slow" advTm="419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14600"/>
            <a:ext cx="3524250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2514600"/>
            <a:ext cx="352425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2514600"/>
            <a:ext cx="3524250" cy="25241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809875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33775"/>
            <a:ext cx="144018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HTML5 &amp; CSS3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86200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Xây dựng cấu trúc chuẩn SEO, định hình phong cách sang trọng, đáp ứng các tiêu chuẩn hiển thị hiện đại trên môi trường Web.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525" y="2809875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533775"/>
            <a:ext cx="191023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JavaScript &amp; jQuery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86200"/>
            <a:ext cx="30289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Xử lý sự kiện linh hoạt tại phía Client, giảm tải request gửi lên Server, mang lại hiệu ứng tương tác tức thì và mượt mà cho người dùng.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2809875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33775"/>
            <a:ext cx="212026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Bootstrap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86200"/>
            <a:ext cx="30289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Hệ thống Grid Responsive ưu tiên thiết bị di động, cung cấp thư viện giao diện phong phú, rút ngắn thời gian thiết kế UX/UI.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125" y="2962275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8212" y="2962275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2012" y="2962275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Công nghệ Frontend &amp; Giao diện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Audio 1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07"/>
    </mc:Choice>
    <mc:Fallback>
      <p:transition spd="slow" advTm="369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662" y="1871662"/>
            <a:ext cx="1209675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160" y="2376487"/>
            <a:ext cx="543067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0F172A"/>
                </a:solidFill>
                <a:latin typeface="Plus Jakarta Sans ExtraBold"/>
              </a:rPr>
              <a:t>PHÂN TÍCH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5" y="3148012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Xác định yêu cầu chức năng, phi chức năng và mô hình hóa quy trình nghiệp vụ khách sạn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3500" y="399573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Audio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95"/>
    </mc:Choice>
    <mc:Fallback>
      <p:transition spd="slow" advTm="90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24125"/>
            <a:ext cx="11049000" cy="25050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533650"/>
          <a:ext cx="11029948" cy="248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Nhóm chức năng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Chức năng chi tiết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Đối tượng áp dụng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Hệ thống chung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Xem trang chủ, danh sách loại phòng, gửi liên hệ đặt phòng, gửi phản hồi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Tất cả người dùng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Nghiệp vụ phòng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Quản lý danh sách phòng, quản lý loại phòng, dịch vụ đi kèm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Nhân viên, Quản lý,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Quản lý lưu trú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Xử lý phiếu đặt phòng, phiếu thuê phòng, lập hóa đơn thanh toán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Nhân viên, Quản lý, Admin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Quản trị &amp; Phân quyền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Quản lý tài khoản nhân viên, phân quyền nhóm người dùng, đổi mật khẩu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Inter"/>
                        </a:rPr>
                        <a:t>Quản trị hệ thống (Admin)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3543300"/>
            <a:ext cx="22800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61071" y="3543300"/>
            <a:ext cx="6233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94886" y="3543300"/>
            <a:ext cx="2516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4033837"/>
            <a:ext cx="22800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61071" y="4033837"/>
            <a:ext cx="6233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4886" y="4033837"/>
            <a:ext cx="2516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524375"/>
            <a:ext cx="22800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61071" y="4524375"/>
            <a:ext cx="62338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94886" y="4524375"/>
            <a:ext cx="2516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Yêu cầu Chức năng Hệ thống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Audio 1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385"/>
    </mc:Choice>
    <mc:Fallback>
      <p:transition spd="slow" advTm="393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750343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Bảo mật &amp; Phân quyền: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Hệ thống mã hóa thông tin đăng nhập, phân quyền chi tiết cho từng vai trò người dùng (Khách hàng, Nhân viên, Quản lý, Admin).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445668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Giao diện Thân thiện: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Thiết kế trực quan, bố cục khoa học, màu sắc chuẩn dịch vụ nghỉ dưỡng giúp người dùng dễ thao tác ngay lần đầu.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898106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Hiệu năng &amp; Tốc độ: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Tối ưu hóa câu lệnh LINQ và CSDL SQL Server, áp dụng Bundling &amp; Minification giúp tốc độ tải trang nhanh chóng.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350543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Tính Tương thích: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Tương thích hoàn hảo trên các trình duyệt phổ biến (Chrome, Edge, Firefox) và đa dạng kích thước màn hình.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64631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59956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12393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64831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Yêu cầu Phi chức năng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udio 1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3"/>
    </mc:Choice>
    <mc:Fallback>
      <p:transition spd="slow" advTm="351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1080" y="2982366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744366"/>
            <a:ext cx="2430660" cy="12075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760" y="2982366"/>
            <a:ext cx="5715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4180" y="3744366"/>
            <a:ext cx="2430660" cy="120759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6441" y="2982366"/>
            <a:ext cx="57150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860" y="3744366"/>
            <a:ext cx="2430660" cy="120759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9121" y="2982366"/>
            <a:ext cx="571500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541" y="3744366"/>
            <a:ext cx="2430660" cy="12075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23950" y="3948112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753" y="3925341"/>
            <a:ext cx="223215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369A1"/>
                </a:solidFill>
                <a:latin typeface="Plus Jakarta Sans"/>
              </a:rPr>
              <a:t>Tra cứu &amp; Đặt phòng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2110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Khách hàng chọn loại phòng, thời gian lưu trú và gửi thông tin phiếu đặt phòng.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433" y="3925341"/>
            <a:ext cx="223215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369A1"/>
                </a:solidFill>
                <a:latin typeface="Plus Jakarta Sans"/>
              </a:rPr>
              <a:t>Check-in (Thuê phòng)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6580" y="42110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Nhân viên xác nhận thông tin, lập phiếu thuê phòng và giao phòng cho khách.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6114" y="3925341"/>
            <a:ext cx="223215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369A1"/>
                </a:solidFill>
                <a:latin typeface="Plus Jakarta Sans"/>
              </a:rPr>
              <a:t>Sử dụng Dịch vụ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260" y="42110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Ghi nhận phát sinh các dịch vụ ăn uống, giặt ủi trong suốt kỳ nghỉ của khách.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794" y="3925341"/>
            <a:ext cx="223215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369A1"/>
                </a:solidFill>
                <a:latin typeface="Plus Jakarta Sans"/>
              </a:rPr>
              <a:t>Check-out &amp; Hóa đơn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1941" y="4211091"/>
            <a:ext cx="212586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Tính tổng tiền phòng + dịch vụ, lập hóa đơn, thu tiền và hoàn tất thủ tục trả phòng.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Quy trình Nghiệp vụ Khách sạn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Audio 2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410"/>
    </mc:Choice>
    <mc:Fallback>
      <p:transition spd="slow" advTm="384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662" y="1871662"/>
            <a:ext cx="1209675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-24979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8875" y="2003263"/>
            <a:ext cx="619125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18050" y="2774788"/>
            <a:ext cx="69606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Kiến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trúc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cơ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sở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dữ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liệu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quan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hệ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và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mô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hình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hóa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cấu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trúc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màn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hình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ứng</a:t>
            </a:r>
            <a:r>
              <a:rPr sz="150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64748B"/>
                </a:solidFill>
                <a:latin typeface="Inter"/>
              </a:rPr>
              <a:t>dụng</a:t>
            </a:r>
            <a:endParaRPr sz="150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43500" y="3155983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Audio 1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50"/>
    </mc:Choice>
    <mc:Fallback>
      <p:transition spd="slow" advTm="9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2490787"/>
            <a:ext cx="4905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Chuẩn hóa Dữ liệu: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CSDL gồm các bảng dữ liệu chính: Phong, LoaiPhong, DichVu, PhieuDatPhong, PhieuThuePhong, HoaDon, KhachHang, NhanVien.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429000"/>
            <a:ext cx="49053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Ràng buộc Toàn vẹn: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Thiết lập chính xác các khóa chính, khóa ngoại (FK) giữa các thực thể để đảm bảo dữ liệu luôn đồng nhất.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367212"/>
            <a:ext cx="4905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Tách biệt Phân hệ: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Phân chia dữ liệu phục vụ giao diện Khách hàng (Client View) và Phân hệ Nghiệp vụ (Admin Console).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976437"/>
            <a:ext cx="5314950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05075"/>
            <a:ext cx="23812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443287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381500"/>
            <a:ext cx="2381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Mô hình Cơ sở Dữ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Audio 1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262"/>
    </mc:Choice>
    <mc:Fallback>
      <p:transition spd="slow" advTm="242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787" y="1871662"/>
            <a:ext cx="1495425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8875" y="2376487"/>
            <a:ext cx="619125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 dirty="0">
                <a:solidFill>
                  <a:srgbClr val="0F172A"/>
                </a:solidFill>
                <a:latin typeface="Plus Jakarta Sans ExtraBold"/>
              </a:rPr>
              <a:t>KẾT QUẢ &amp; 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8875" y="3148012"/>
            <a:ext cx="6191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Đánh giá tổng quan kết quả đạt được, ưu nhược điểm và hướng phát triển ứng dụng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3500" y="399573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Audio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40"/>
    </mc:Choice>
    <mc:Fallback>
      <p:transition spd="slow" advTm="93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43175"/>
            <a:ext cx="5334000" cy="2466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543175"/>
            <a:ext cx="5334000" cy="2466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886075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Plus Jakarta Sans"/>
              </a:rPr>
              <a:t>Ưu điểm nổi bật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200" y="2886075"/>
            <a:ext cx="456057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EA580C"/>
                </a:solidFill>
                <a:latin typeface="Plus Jakarta Sans"/>
              </a:rPr>
              <a:t>Hạn chế &amp; Đề xuất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914650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2956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Giao diện hiện đại, chuyên nghiệp, chuẩn responsive.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385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Nghiệp vụ quản lý phòng, dịch vụ, hóa đơn chính xác.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814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Tự động hóa giúp tiết kiệm thời gian vận hành.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3243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Bảo mật cao nhờ cơ chế Authentication Filter.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91465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0" y="32956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Tích hợp thêm thanh toán trực tuyến (VNPay, MoMo).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385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Bổ sung tính năng tự động gửi Email xác nhận.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814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Phát triển ứng dụng di động (Mobile App) hỗ trợ.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32435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Nâng cấp báo cáo thống kê doanh thu dạng biểu đồ.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956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385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814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243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956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385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9814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324350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Nhận xét &amp; Đánh giá Dự án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Audio 2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206"/>
    </mc:Choice>
    <mc:Fallback>
      <p:transition spd="slow" advTm="272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137" y="3362325"/>
            <a:ext cx="6562725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9015" y="1857375"/>
            <a:ext cx="775096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0" i="0" u="none">
                <a:solidFill>
                  <a:srgbClr val="FFFFFF"/>
                </a:solidFill>
                <a:latin typeface="Plus Jakarta Sans ExtraBold"/>
              </a:rPr>
              <a:t>CẢM ƠN THẦY VÀ CÁC BẠN!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5950" y="2667000"/>
            <a:ext cx="7277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Rất mong nhận được đóng góp ý kiến từ Giảng viên hướng dẫn &amp; Hội đồng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7512" y="3609975"/>
            <a:ext cx="25717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Lê Quang Đẳng (MSSV: 170125073)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6012" y="3609975"/>
            <a:ext cx="21240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Inter"/>
              </a:rPr>
              <a:t>GVHD: TS. Nguyễn Nhựt Lãm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912" y="362902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0262" y="3629025"/>
            <a:ext cx="190500" cy="152400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542"/>
    </mc:Choice>
    <mc:Fallback>
      <p:transition spd="slow" advTm="135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009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771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771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527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159918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https://cdn.dribbble.com/userupload/45547937/file/f216b0f70a69f5929b8c956c5b59b7b4.png?format=webp&amp;resize=400x300&amp;vertical=center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93281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243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931443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https://images.hanselman.com/blog/layeredarch.png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164806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www.hanselman.com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88582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1234</Words>
  <Application>Microsoft Office PowerPoint</Application>
  <PresentationFormat>Widescreen</PresentationFormat>
  <Paragraphs>115</Paragraphs>
  <Slides>17</Slides>
  <Notes>0</Notes>
  <HiddenSlides>0</HiddenSlides>
  <MMClips>16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Inter</vt:lpstr>
      <vt:lpstr>Inter Medium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Nguyen Anh Khoa</cp:lastModifiedBy>
  <cp:revision>5</cp:revision>
  <dcterms:created xsi:type="dcterms:W3CDTF">2013-01-27T09:14:16Z</dcterms:created>
  <dcterms:modified xsi:type="dcterms:W3CDTF">2026-08-04T10:15:48Z</dcterms:modified>
  <cp:category/>
</cp:coreProperties>
</file>